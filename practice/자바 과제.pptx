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6858000" cy="9906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80"/>
    <p:restoredTop sz="94756"/>
  </p:normalViewPr>
  <p:slideViewPr>
    <p:cSldViewPr snapToGrid="0">
      <p:cViewPr varScale="1">
        <p:scale>
          <a:sx n="79" d="100"/>
          <a:sy n="79" d="100"/>
        </p:scale>
        <p:origin x="2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43797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37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694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184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204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81647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4829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575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001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18623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7999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393BB-1631-9845-B8E2-D52841BA1A82}" type="datetimeFigureOut">
              <a:rPr kumimoji="1" lang="ko-KR" altLang="en-US" smtClean="0"/>
              <a:t>2026. 6. 4.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DD52FB-F90D-4247-8610-CF410896D6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812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912F51B-1315-30B9-82FB-97EAF847C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21" y="655611"/>
            <a:ext cx="4492007" cy="2372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68FC80-7C2C-BEBA-4B83-2E40F6E19964}"/>
              </a:ext>
            </a:extLst>
          </p:cNvPr>
          <p:cNvSpPr txBox="1"/>
          <p:nvPr/>
        </p:nvSpPr>
        <p:spPr>
          <a:xfrm>
            <a:off x="328221" y="286279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1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3</a:t>
            </a:r>
            <a:r>
              <a:rPr kumimoji="1" lang="ko-KR" altLang="en-US" dirty="0"/>
              <a:t>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9A5BC7B-932B-2FCC-FD32-A3A729B5A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401" y="655611"/>
            <a:ext cx="947558" cy="8071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F50419-3A4F-C3A8-901F-67454C5F59DD}"/>
              </a:ext>
            </a:extLst>
          </p:cNvPr>
          <p:cNvSpPr txBox="1"/>
          <p:nvPr/>
        </p:nvSpPr>
        <p:spPr>
          <a:xfrm>
            <a:off x="328221" y="4768334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1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7</a:t>
            </a:r>
            <a:r>
              <a:rPr kumimoji="1" lang="ko-KR" altLang="en-US" dirty="0"/>
              <a:t>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D6EECE-622D-4646-939D-A115B5403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21" y="5137666"/>
            <a:ext cx="2844800" cy="16891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EC50BBE-958B-FA8A-9249-12B15862A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5137666"/>
            <a:ext cx="1104286" cy="4884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B5507E-9F72-3876-5948-70B0DCF3C8CE}"/>
              </a:ext>
            </a:extLst>
          </p:cNvPr>
          <p:cNvSpPr txBox="1"/>
          <p:nvPr/>
        </p:nvSpPr>
        <p:spPr>
          <a:xfrm>
            <a:off x="255981" y="3317776"/>
            <a:ext cx="64550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본 코드는 </a:t>
            </a:r>
            <a:r>
              <a:rPr lang="ko-KR" altLang="ko-KR" dirty="0" err="1">
                <a:latin typeface="+mn-ea"/>
              </a:rPr>
              <a:t>Scanner를</a:t>
            </a:r>
            <a:r>
              <a:rPr lang="ko-KR" altLang="ko-KR" dirty="0">
                <a:latin typeface="+mn-ea"/>
              </a:rPr>
              <a:t> 통해 사용자로부터 두 개의 정수를 차례로 </a:t>
            </a:r>
            <a:r>
              <a:rPr lang="ko-KR" altLang="ko-KR" dirty="0" err="1">
                <a:latin typeface="+mn-ea"/>
              </a:rPr>
              <a:t>입력받는</a:t>
            </a:r>
            <a:r>
              <a:rPr lang="ko-KR" altLang="ko-KR" dirty="0">
                <a:latin typeface="+mn-ea"/>
              </a:rPr>
              <a:t> 프로그램입니다. </a:t>
            </a:r>
            <a:r>
              <a:rPr lang="ko-KR" altLang="ko-KR" dirty="0" err="1">
                <a:latin typeface="+mn-ea"/>
              </a:rPr>
              <a:t>입력받은</a:t>
            </a:r>
            <a:r>
              <a:rPr lang="ko-KR" altLang="ko-KR" dirty="0">
                <a:latin typeface="+mn-ea"/>
              </a:rPr>
              <a:t> 두 정수의 합을 계산한 뒤, </a:t>
            </a:r>
            <a:r>
              <a:rPr lang="ko-KR" altLang="ko-KR" dirty="0" err="1">
                <a:latin typeface="+mn-ea"/>
              </a:rPr>
              <a:t>System.out.println을</a:t>
            </a:r>
            <a:r>
              <a:rPr lang="ko-KR" altLang="ko-KR" dirty="0">
                <a:latin typeface="+mn-ea"/>
              </a:rPr>
              <a:t> 사용해 그 결과를 화면에 출력하고 종료됩니다.</a:t>
            </a:r>
            <a:endParaRPr lang="ko-KR" altLang="en-US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83BC3-BAC1-BD88-914C-51B006E3799E}"/>
              </a:ext>
            </a:extLst>
          </p:cNvPr>
          <p:cNvSpPr txBox="1"/>
          <p:nvPr/>
        </p:nvSpPr>
        <p:spPr>
          <a:xfrm>
            <a:off x="328221" y="7180270"/>
            <a:ext cx="6056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본 코드는 </a:t>
            </a:r>
            <a:r>
              <a:rPr lang="ko-KR" altLang="ko-KR" dirty="0" err="1">
                <a:latin typeface="+mn-ea"/>
              </a:rPr>
              <a:t>Scanner를</a:t>
            </a:r>
            <a:r>
              <a:rPr lang="ko-KR" altLang="ko-KR" dirty="0">
                <a:latin typeface="+mn-ea"/>
              </a:rPr>
              <a:t> 사용하여 사용자로부터 문자열(아이디)을 </a:t>
            </a:r>
            <a:r>
              <a:rPr lang="ko-KR" altLang="ko-KR" dirty="0" err="1">
                <a:latin typeface="+mn-ea"/>
              </a:rPr>
              <a:t>입력받는</a:t>
            </a:r>
            <a:r>
              <a:rPr lang="ko-KR" altLang="ko-KR" dirty="0">
                <a:latin typeface="+mn-ea"/>
              </a:rPr>
              <a:t> 프로그램입니다. </a:t>
            </a:r>
            <a:r>
              <a:rPr lang="ko-KR" altLang="ko-KR" dirty="0" err="1">
                <a:latin typeface="+mn-ea"/>
              </a:rPr>
              <a:t>입력받은</a:t>
            </a:r>
            <a:r>
              <a:rPr lang="ko-KR" altLang="ko-KR" dirty="0">
                <a:latin typeface="+mn-ea"/>
              </a:rPr>
              <a:t> 문자열 뒤에 놀람을 나타내는 문자열 "?!"을 이어 붙인 후, </a:t>
            </a:r>
            <a:r>
              <a:rPr lang="ko-KR" altLang="ko-KR" dirty="0" err="1">
                <a:latin typeface="+mn-ea"/>
              </a:rPr>
              <a:t>System.out.println을</a:t>
            </a:r>
            <a:r>
              <a:rPr lang="ko-KR" altLang="ko-KR" dirty="0">
                <a:latin typeface="+mn-ea"/>
              </a:rPr>
              <a:t> 통해 화면에 출력합니다.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73609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F207-4F31-E0D2-7DE7-0F71DDD6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D7486C-C007-0614-7BA0-932C56A5BE70}"/>
              </a:ext>
            </a:extLst>
          </p:cNvPr>
          <p:cNvSpPr txBox="1"/>
          <p:nvPr/>
        </p:nvSpPr>
        <p:spPr>
          <a:xfrm>
            <a:off x="328221" y="286279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1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9</a:t>
            </a:r>
            <a:r>
              <a:rPr kumimoji="1" lang="ko-KR" altLang="en-US" dirty="0"/>
              <a:t>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703FA8-2B69-5549-1611-8B7D86732483}"/>
              </a:ext>
            </a:extLst>
          </p:cNvPr>
          <p:cNvSpPr txBox="1"/>
          <p:nvPr/>
        </p:nvSpPr>
        <p:spPr>
          <a:xfrm>
            <a:off x="328221" y="4768334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1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881EE2A-8437-6462-3370-EF95E181A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21" y="724944"/>
            <a:ext cx="3473994" cy="20563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250E63-A47F-ECC7-A99E-67A705C9B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850" y="737644"/>
            <a:ext cx="640812" cy="8752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5B8C63A-299D-E5CC-5FB8-CFCD532CD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21" y="5276850"/>
            <a:ext cx="3630138" cy="13906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298CA28-0959-40DA-7210-28939E24D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072" y="5276850"/>
            <a:ext cx="875256" cy="8752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D53BE3-5297-1386-363D-12045A75F1F9}"/>
              </a:ext>
            </a:extLst>
          </p:cNvPr>
          <p:cNvSpPr txBox="1"/>
          <p:nvPr/>
        </p:nvSpPr>
        <p:spPr>
          <a:xfrm>
            <a:off x="292386" y="3129155"/>
            <a:ext cx="64023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>
                <a:latin typeface="+mn-ea"/>
              </a:rPr>
              <a:t>Scanner로</a:t>
            </a:r>
            <a:r>
              <a:rPr lang="ko-KR" altLang="ko-KR" dirty="0">
                <a:latin typeface="+mn-ea"/>
              </a:rPr>
              <a:t> 세 개의 정수 </a:t>
            </a:r>
            <a:r>
              <a:rPr lang="ko-KR" altLang="ko-KR" dirty="0" err="1">
                <a:latin typeface="+mn-ea"/>
              </a:rPr>
              <a:t>a</a:t>
            </a:r>
            <a:r>
              <a:rPr lang="ko-KR" altLang="ko-KR" dirty="0">
                <a:latin typeface="+mn-ea"/>
              </a:rPr>
              <a:t>, </a:t>
            </a:r>
            <a:r>
              <a:rPr lang="ko-KR" altLang="ko-KR" dirty="0" err="1">
                <a:latin typeface="+mn-ea"/>
              </a:rPr>
              <a:t>b</a:t>
            </a:r>
            <a:r>
              <a:rPr lang="ko-KR" altLang="ko-KR" dirty="0">
                <a:latin typeface="+mn-ea"/>
              </a:rPr>
              <a:t>, </a:t>
            </a:r>
            <a:r>
              <a:rPr lang="ko-KR" altLang="ko-KR" dirty="0" err="1">
                <a:latin typeface="+mn-ea"/>
              </a:rPr>
              <a:t>c를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입력받아</a:t>
            </a:r>
            <a:r>
              <a:rPr lang="ko-KR" altLang="ko-KR" dirty="0">
                <a:latin typeface="+mn-ea"/>
              </a:rPr>
              <a:t> 나머지 연산(%)의 성질(</a:t>
            </a:r>
            <a:r>
              <a:rPr lang="ko-KR" altLang="ko-KR" dirty="0" err="1">
                <a:latin typeface="+mn-ea"/>
              </a:rPr>
              <a:t>모듈러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합동식</a:t>
            </a:r>
            <a:r>
              <a:rPr lang="ko-KR" altLang="ko-KR" dirty="0">
                <a:latin typeface="+mn-ea"/>
              </a:rPr>
              <a:t>)을 확인하는 프로그램입니다. (</a:t>
            </a:r>
            <a:r>
              <a:rPr lang="ko-KR" altLang="ko-KR" dirty="0" err="1">
                <a:latin typeface="+mn-ea"/>
              </a:rPr>
              <a:t>a+b</a:t>
            </a:r>
            <a:r>
              <a:rPr lang="ko-KR" altLang="ko-KR" dirty="0">
                <a:latin typeface="+mn-ea"/>
              </a:rPr>
              <a:t>)%</a:t>
            </a:r>
            <a:r>
              <a:rPr lang="ko-KR" altLang="ko-KR" dirty="0" err="1">
                <a:latin typeface="+mn-ea"/>
              </a:rPr>
              <a:t>c와</a:t>
            </a:r>
            <a:r>
              <a:rPr lang="ko-KR" altLang="ko-KR" dirty="0">
                <a:latin typeface="+mn-ea"/>
              </a:rPr>
              <a:t> ((</a:t>
            </a:r>
            <a:r>
              <a:rPr lang="ko-KR" altLang="ko-KR" dirty="0" err="1">
                <a:latin typeface="+mn-ea"/>
              </a:rPr>
              <a:t>a%c</a:t>
            </a:r>
            <a:r>
              <a:rPr lang="ko-KR" altLang="ko-KR" dirty="0">
                <a:latin typeface="+mn-ea"/>
              </a:rPr>
              <a:t>)+(</a:t>
            </a:r>
            <a:r>
              <a:rPr lang="ko-KR" altLang="ko-KR" dirty="0" err="1">
                <a:latin typeface="+mn-ea"/>
              </a:rPr>
              <a:t>b%c</a:t>
            </a:r>
            <a:r>
              <a:rPr lang="ko-KR" altLang="ko-KR" dirty="0">
                <a:latin typeface="+mn-ea"/>
              </a:rPr>
              <a:t>))%c의 결과가 같고, 곱셈 역시 (</a:t>
            </a:r>
            <a:r>
              <a:rPr lang="ko-KR" altLang="ko-KR" dirty="0" err="1">
                <a:latin typeface="+mn-ea"/>
              </a:rPr>
              <a:t>a</a:t>
            </a:r>
            <a:r>
              <a:rPr lang="ko-KR" altLang="ko-KR" dirty="0">
                <a:latin typeface="+mn-ea"/>
              </a:rPr>
              <a:t>*</a:t>
            </a:r>
            <a:r>
              <a:rPr lang="ko-KR" altLang="ko-KR" dirty="0" err="1">
                <a:latin typeface="+mn-ea"/>
              </a:rPr>
              <a:t>b</a:t>
            </a:r>
            <a:r>
              <a:rPr lang="ko-KR" altLang="ko-KR" dirty="0">
                <a:latin typeface="+mn-ea"/>
              </a:rPr>
              <a:t>)%</a:t>
            </a:r>
            <a:r>
              <a:rPr lang="ko-KR" altLang="ko-KR" dirty="0" err="1">
                <a:latin typeface="+mn-ea"/>
              </a:rPr>
              <a:t>c와</a:t>
            </a:r>
            <a:r>
              <a:rPr lang="ko-KR" altLang="ko-KR" dirty="0">
                <a:latin typeface="+mn-ea"/>
              </a:rPr>
              <a:t> ((</a:t>
            </a:r>
            <a:r>
              <a:rPr lang="ko-KR" altLang="ko-KR" dirty="0" err="1">
                <a:latin typeface="+mn-ea"/>
              </a:rPr>
              <a:t>a%c</a:t>
            </a:r>
            <a:r>
              <a:rPr lang="ko-KR" altLang="ko-KR" dirty="0">
                <a:latin typeface="+mn-ea"/>
              </a:rPr>
              <a:t>)*(</a:t>
            </a:r>
            <a:r>
              <a:rPr lang="ko-KR" altLang="ko-KR" dirty="0" err="1">
                <a:latin typeface="+mn-ea"/>
              </a:rPr>
              <a:t>b%c</a:t>
            </a:r>
            <a:r>
              <a:rPr lang="ko-KR" altLang="ko-KR" dirty="0">
                <a:latin typeface="+mn-ea"/>
              </a:rPr>
              <a:t>))%c의 결과가 같음을 각각 계산하여 네 줄로 출력합니다.</a:t>
            </a: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65BD71-E019-107F-14F3-8FAE2BF019B6}"/>
              </a:ext>
            </a:extLst>
          </p:cNvPr>
          <p:cNvSpPr txBox="1"/>
          <p:nvPr/>
        </p:nvSpPr>
        <p:spPr>
          <a:xfrm>
            <a:off x="266079" y="6806684"/>
            <a:ext cx="64023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문자열 변수 </a:t>
            </a:r>
            <a:r>
              <a:rPr lang="ko-KR" altLang="ko-KR" dirty="0" err="1">
                <a:latin typeface="+mn-ea"/>
              </a:rPr>
              <a:t>message에</a:t>
            </a:r>
            <a:r>
              <a:rPr lang="ko-KR" altLang="ko-KR" dirty="0">
                <a:latin typeface="+mn-ea"/>
              </a:rPr>
              <a:t> "</a:t>
            </a:r>
            <a:r>
              <a:rPr lang="ko-KR" altLang="ko-KR" dirty="0" err="1">
                <a:latin typeface="+mn-ea"/>
              </a:rPr>
              <a:t>Let's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go</a:t>
            </a:r>
            <a:r>
              <a:rPr lang="ko-KR" altLang="ko-KR" dirty="0">
                <a:latin typeface="+mn-ea"/>
              </a:rPr>
              <a:t>!"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저장하고, 이스케이프 문자(\</a:t>
            </a:r>
            <a:r>
              <a:rPr lang="ko-KR" altLang="ko-KR" dirty="0" err="1">
                <a:latin typeface="+mn-ea"/>
              </a:rPr>
              <a:t>n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활용해 줄 바꿈을 수행하는 프로그램입니다. "3\n2\n1\</a:t>
            </a:r>
            <a:r>
              <a:rPr lang="ko-KR" altLang="ko-KR" dirty="0" err="1">
                <a:latin typeface="+mn-ea"/>
              </a:rPr>
              <a:t>n"과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message를</a:t>
            </a:r>
            <a:r>
              <a:rPr lang="ko-KR" altLang="ko-KR" dirty="0">
                <a:latin typeface="+mn-ea"/>
              </a:rPr>
              <a:t> 연결하여 화면에 3, 2, 1, </a:t>
            </a:r>
            <a:r>
              <a:rPr lang="ko-KR" altLang="ko-KR" dirty="0" err="1">
                <a:latin typeface="+mn-ea"/>
              </a:rPr>
              <a:t>Let's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go!를</a:t>
            </a:r>
            <a:r>
              <a:rPr lang="ko-KR" altLang="ko-KR" dirty="0">
                <a:latin typeface="+mn-ea"/>
              </a:rPr>
              <a:t> 각각 한 줄씩 차례대로 출력합니다.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60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4FF00-23BF-FAC5-7C16-A4E100DE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5CA0C5-85C9-5C1E-4EF0-E0BC50FD962D}"/>
              </a:ext>
            </a:extLst>
          </p:cNvPr>
          <p:cNvSpPr txBox="1"/>
          <p:nvPr/>
        </p:nvSpPr>
        <p:spPr>
          <a:xfrm>
            <a:off x="328221" y="286279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2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1996DE-A5E9-5021-A3A2-34AF4E455E4C}"/>
              </a:ext>
            </a:extLst>
          </p:cNvPr>
          <p:cNvSpPr txBox="1"/>
          <p:nvPr/>
        </p:nvSpPr>
        <p:spPr>
          <a:xfrm>
            <a:off x="328221" y="4387334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3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8BB4C8-FD60-C0D0-7191-401F26C8A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20" y="655610"/>
            <a:ext cx="3332645" cy="20621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829521D-DB2B-22BE-1686-2BD295790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43" y="655610"/>
            <a:ext cx="721022" cy="4884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2CF442-94C5-BE95-EF5D-94065F96C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20" y="4756666"/>
            <a:ext cx="3100780" cy="25370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BF8F269-19C7-27FA-7429-A75E80092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0865" y="4756666"/>
            <a:ext cx="381000" cy="571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992740-398E-C5BA-0DC4-3729858C8E30}"/>
              </a:ext>
            </a:extLst>
          </p:cNvPr>
          <p:cNvSpPr txBox="1"/>
          <p:nvPr/>
        </p:nvSpPr>
        <p:spPr>
          <a:xfrm>
            <a:off x="422365" y="2879289"/>
            <a:ext cx="61074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>
                <a:latin typeface="+mn-ea"/>
              </a:rPr>
              <a:t>Scanner로</a:t>
            </a:r>
            <a:r>
              <a:rPr lang="ko-KR" altLang="ko-KR" dirty="0">
                <a:latin typeface="+mn-ea"/>
              </a:rPr>
              <a:t> 두 개의 각도(angle1, angle2)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입력받아</a:t>
            </a:r>
            <a:r>
              <a:rPr lang="ko-KR" altLang="ko-KR" dirty="0">
                <a:latin typeface="+mn-ea"/>
              </a:rPr>
              <a:t> 합산한 뒤, 회전 주기를 고려해 처리하는 프로그램입니다. 두 각도의 합(</a:t>
            </a:r>
            <a:r>
              <a:rPr lang="ko-KR" altLang="ko-KR" dirty="0" err="1">
                <a:latin typeface="+mn-ea"/>
              </a:rPr>
              <a:t>sum_angle</a:t>
            </a:r>
            <a:r>
              <a:rPr lang="ko-KR" altLang="ko-KR" dirty="0">
                <a:latin typeface="+mn-ea"/>
              </a:rPr>
              <a:t>)을 한 바퀴 기준인 360로 나눈 나머지(% 360)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계산하여 최종 각도를 출력합니다.</a:t>
            </a: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4955B-E145-8723-5865-55AAC65FF4D3}"/>
              </a:ext>
            </a:extLst>
          </p:cNvPr>
          <p:cNvSpPr txBox="1"/>
          <p:nvPr/>
        </p:nvSpPr>
        <p:spPr>
          <a:xfrm>
            <a:off x="280041" y="7663000"/>
            <a:ext cx="61074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>
                <a:latin typeface="+mn-ea"/>
              </a:rPr>
              <a:t>입력받은</a:t>
            </a:r>
            <a:r>
              <a:rPr lang="ko-KR" altLang="ko-KR" dirty="0">
                <a:latin typeface="+mn-ea"/>
              </a:rPr>
              <a:t> 양의 정수(</a:t>
            </a:r>
            <a:r>
              <a:rPr lang="ko-KR" altLang="ko-KR" dirty="0" err="1">
                <a:latin typeface="+mn-ea"/>
              </a:rPr>
              <a:t>number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뒤에서부터 두 자리씩 잘라내어 모두 더하는 프로그램입니다. </a:t>
            </a:r>
            <a:r>
              <a:rPr lang="ko-KR" altLang="ko-KR" dirty="0" err="1">
                <a:latin typeface="+mn-ea"/>
              </a:rPr>
              <a:t>while</a:t>
            </a:r>
            <a:r>
              <a:rPr lang="ko-KR" altLang="ko-KR" dirty="0">
                <a:latin typeface="+mn-ea"/>
              </a:rPr>
              <a:t> 루프 안에서 % 100으로 하위 두 자리를 추출해 </a:t>
            </a:r>
            <a:r>
              <a:rPr lang="ko-KR" altLang="ko-KR" dirty="0" err="1">
                <a:latin typeface="+mn-ea"/>
              </a:rPr>
              <a:t>answer에</a:t>
            </a:r>
            <a:r>
              <a:rPr lang="ko-KR" altLang="ko-KR" dirty="0">
                <a:latin typeface="+mn-ea"/>
              </a:rPr>
              <a:t> 더하고, /= 100으로 해당 자리를 제거하는 과정을 반복한 뒤 최종 합계를 출력합니다.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9645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A9FF63-91F8-A219-5C99-671A8B5DB694}"/>
              </a:ext>
            </a:extLst>
          </p:cNvPr>
          <p:cNvSpPr txBox="1"/>
          <p:nvPr/>
        </p:nvSpPr>
        <p:spPr>
          <a:xfrm>
            <a:off x="254000" y="69612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2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3</a:t>
            </a:r>
            <a:r>
              <a:rPr kumimoji="1" lang="ko-KR" altLang="en-US" dirty="0"/>
              <a:t>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EF1BDA-E114-7E07-B9EF-3CB781428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38944"/>
            <a:ext cx="2697887" cy="31551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F9C8888-801B-4AFB-9BC1-58CBE7854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250" y="438944"/>
            <a:ext cx="450850" cy="198708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B74A7FC-07BD-7009-EDCF-AD2E14BBC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0759" y="4332764"/>
            <a:ext cx="3937000" cy="321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69B818-A3BA-5090-3569-BB0338E8E6A9}"/>
              </a:ext>
            </a:extLst>
          </p:cNvPr>
          <p:cNvSpPr txBox="1"/>
          <p:nvPr/>
        </p:nvSpPr>
        <p:spPr>
          <a:xfrm>
            <a:off x="-24924" y="3963432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2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3</a:t>
            </a:r>
            <a:r>
              <a:rPr kumimoji="1" lang="ko-KR" altLang="en-US" dirty="0"/>
              <a:t>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02795AD-C801-63B4-F233-916EEC354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7" y="7690724"/>
            <a:ext cx="1592474" cy="5938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7EF6C2-B2FC-DC53-62EC-E51703F495AA}"/>
              </a:ext>
            </a:extLst>
          </p:cNvPr>
          <p:cNvSpPr txBox="1"/>
          <p:nvPr/>
        </p:nvSpPr>
        <p:spPr>
          <a:xfrm>
            <a:off x="3531464" y="438944"/>
            <a:ext cx="28738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9개의 정수를 차례로 </a:t>
            </a:r>
            <a:r>
              <a:rPr lang="ko-KR" altLang="ko-KR" dirty="0" err="1">
                <a:latin typeface="+mn-ea"/>
              </a:rPr>
              <a:t>입력받으면서</a:t>
            </a:r>
            <a:r>
              <a:rPr lang="ko-KR" altLang="ko-KR" dirty="0">
                <a:latin typeface="+mn-ea"/>
              </a:rPr>
              <a:t> 그중 최댓값과 그것이 몇 번째로 입력되었는지(</a:t>
            </a:r>
            <a:r>
              <a:rPr lang="ko-KR" altLang="ko-KR">
                <a:latin typeface="+mn-ea"/>
              </a:rPr>
              <a:t>인덱스)를</a:t>
            </a:r>
            <a:r>
              <a:rPr lang="ko-KR" altLang="ko-KR" dirty="0">
                <a:latin typeface="+mn-ea"/>
              </a:rPr>
              <a:t> 구하는 프로그램입니다. </a:t>
            </a:r>
            <a:r>
              <a:rPr lang="ko-KR" altLang="ko-KR" dirty="0" err="1">
                <a:latin typeface="+mn-ea"/>
              </a:rPr>
              <a:t>for</a:t>
            </a:r>
            <a:r>
              <a:rPr lang="ko-KR" altLang="ko-KR" dirty="0">
                <a:latin typeface="+mn-ea"/>
              </a:rPr>
              <a:t> 루프를 통해 대소 비교(</a:t>
            </a:r>
            <a:r>
              <a:rPr lang="ko-KR" altLang="ko-KR" dirty="0" err="1">
                <a:latin typeface="+mn-ea"/>
              </a:rPr>
              <a:t>num</a:t>
            </a:r>
            <a:r>
              <a:rPr lang="ko-KR" altLang="ko-KR" dirty="0">
                <a:latin typeface="+mn-ea"/>
              </a:rPr>
              <a:t> &gt; </a:t>
            </a:r>
            <a:r>
              <a:rPr lang="ko-KR" altLang="ko-KR" dirty="0" err="1">
                <a:latin typeface="+mn-ea"/>
              </a:rPr>
              <a:t>max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반복하면서 최댓값을 갱신하고, 해당 순번(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)을 </a:t>
            </a:r>
            <a:r>
              <a:rPr lang="ko-KR" altLang="ko-KR" dirty="0" err="1">
                <a:latin typeface="+mn-ea"/>
              </a:rPr>
              <a:t>index</a:t>
            </a:r>
            <a:r>
              <a:rPr lang="ko-KR" altLang="ko-KR" dirty="0">
                <a:latin typeface="+mn-ea"/>
              </a:rPr>
              <a:t> 변수에 기억해 두었다가 최종 출력합니다.</a:t>
            </a:r>
            <a:endParaRPr lang="ko-KR" altLang="en-US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437E0-0157-2559-0254-2A0604E6867D}"/>
              </a:ext>
            </a:extLst>
          </p:cNvPr>
          <p:cNvSpPr txBox="1"/>
          <p:nvPr/>
        </p:nvSpPr>
        <p:spPr>
          <a:xfrm>
            <a:off x="4213675" y="4332764"/>
            <a:ext cx="21916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>
                <a:latin typeface="+mn-ea"/>
              </a:rPr>
              <a:t>입력받은</a:t>
            </a:r>
            <a:r>
              <a:rPr lang="ko-KR" altLang="ko-KR" dirty="0">
                <a:latin typeface="+mn-ea"/>
              </a:rPr>
              <a:t> 문자열 코드의 마지막 4글자를 추출하여, 그 값에 따라 해당하는 </a:t>
            </a:r>
            <a:r>
              <a:rPr lang="ko-KR" altLang="ko-KR" dirty="0" err="1">
                <a:latin typeface="+mn-ea"/>
              </a:rPr>
              <a:t>진료과</a:t>
            </a:r>
            <a:r>
              <a:rPr lang="ko-KR" altLang="ko-KR" dirty="0">
                <a:latin typeface="+mn-ea"/>
              </a:rPr>
              <a:t> 이름을 출력하는 프로그램입니다. </a:t>
            </a:r>
            <a:r>
              <a:rPr lang="ko-KR" altLang="ko-KR" dirty="0" err="1">
                <a:latin typeface="+mn-ea"/>
              </a:rPr>
              <a:t>substring으로</a:t>
            </a:r>
            <a:r>
              <a:rPr lang="ko-KR" altLang="ko-KR" dirty="0">
                <a:latin typeface="+mn-ea"/>
              </a:rPr>
              <a:t> 끝자리 단어를 잘라낸 후 </a:t>
            </a:r>
            <a:r>
              <a:rPr lang="ko-KR" altLang="ko-KR" dirty="0" err="1">
                <a:latin typeface="+mn-ea"/>
              </a:rPr>
              <a:t>if-else</a:t>
            </a:r>
            <a:r>
              <a:rPr lang="ko-KR" altLang="ko-KR" dirty="0">
                <a:latin typeface="+mn-ea"/>
              </a:rPr>
              <a:t> 조건문을 통해 각 키워드("_</a:t>
            </a:r>
            <a:r>
              <a:rPr lang="ko-KR" altLang="ko-KR" dirty="0" err="1">
                <a:latin typeface="+mn-ea"/>
              </a:rPr>
              <a:t>eye</a:t>
            </a:r>
            <a:r>
              <a:rPr lang="ko-KR" altLang="ko-KR" dirty="0">
                <a:latin typeface="+mn-ea"/>
              </a:rPr>
              <a:t>", "</a:t>
            </a:r>
            <a:r>
              <a:rPr lang="ko-KR" altLang="ko-KR" dirty="0" err="1">
                <a:latin typeface="+mn-ea"/>
              </a:rPr>
              <a:t>head</a:t>
            </a:r>
            <a:r>
              <a:rPr lang="ko-KR" altLang="ko-KR" dirty="0">
                <a:latin typeface="+mn-ea"/>
              </a:rPr>
              <a:t>", "</a:t>
            </a:r>
            <a:r>
              <a:rPr lang="ko-KR" altLang="ko-KR" dirty="0" err="1">
                <a:latin typeface="+mn-ea"/>
              </a:rPr>
              <a:t>infl</a:t>
            </a:r>
            <a:r>
              <a:rPr lang="ko-KR" altLang="ko-KR" dirty="0">
                <a:latin typeface="+mn-ea"/>
              </a:rPr>
              <a:t>", "</a:t>
            </a:r>
            <a:r>
              <a:rPr lang="ko-KR" altLang="ko-KR" dirty="0" err="1">
                <a:latin typeface="+mn-ea"/>
              </a:rPr>
              <a:t>skin</a:t>
            </a:r>
            <a:r>
              <a:rPr lang="ko-KR" altLang="ko-KR" dirty="0">
                <a:latin typeface="+mn-ea"/>
              </a:rPr>
              <a:t>")와 일치하는 병원 부서를 매칭해 출력합니다.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849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BE1A054-8AE6-781E-5380-0E94FE36AF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" y="438944"/>
            <a:ext cx="2501900" cy="28572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4F6DBD-844E-B16D-80A5-D115582A7EE0}"/>
              </a:ext>
            </a:extLst>
          </p:cNvPr>
          <p:cNvSpPr txBox="1"/>
          <p:nvPr/>
        </p:nvSpPr>
        <p:spPr>
          <a:xfrm>
            <a:off x="254000" y="69612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2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3</a:t>
            </a:r>
            <a:r>
              <a:rPr kumimoji="1" lang="ko-KR" altLang="en-US" dirty="0"/>
              <a:t>번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936683-4FF8-0012-8489-3AA5043E4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866" y="438944"/>
            <a:ext cx="743045" cy="6405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E7F5DE6-BBD5-612D-2BC9-FFF00A3E2A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4953000"/>
            <a:ext cx="2247900" cy="2235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1F5D97-F5E6-737C-1D89-BE82383CA955}"/>
              </a:ext>
            </a:extLst>
          </p:cNvPr>
          <p:cNvSpPr txBox="1"/>
          <p:nvPr/>
        </p:nvSpPr>
        <p:spPr>
          <a:xfrm>
            <a:off x="254000" y="4583668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3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4F535D8-F218-46A0-C862-EB3973B53F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67" y="4965700"/>
            <a:ext cx="669636" cy="1104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BD5D2D-A427-D183-0559-1A62DF9AC527}"/>
              </a:ext>
            </a:extLst>
          </p:cNvPr>
          <p:cNvSpPr txBox="1"/>
          <p:nvPr/>
        </p:nvSpPr>
        <p:spPr>
          <a:xfrm>
            <a:off x="2919866" y="1303288"/>
            <a:ext cx="3429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연도를 </a:t>
            </a:r>
            <a:r>
              <a:rPr lang="ko-KR" altLang="ko-KR" dirty="0" err="1">
                <a:latin typeface="+mn-ea"/>
              </a:rPr>
              <a:t>입력받아</a:t>
            </a:r>
            <a:r>
              <a:rPr lang="ko-KR" altLang="ko-KR" dirty="0">
                <a:latin typeface="+mn-ea"/>
              </a:rPr>
              <a:t> 중첩 </a:t>
            </a:r>
            <a:r>
              <a:rPr lang="ko-KR" altLang="ko-KR" dirty="0" err="1">
                <a:latin typeface="+mn-ea"/>
              </a:rPr>
              <a:t>if-else문으로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b="1" dirty="0">
                <a:latin typeface="+mn-ea"/>
              </a:rPr>
              <a:t>윤년 여부를 판별</a:t>
            </a:r>
            <a:r>
              <a:rPr lang="ko-KR" altLang="ko-KR" dirty="0">
                <a:latin typeface="+mn-ea"/>
              </a:rPr>
              <a:t>하여 윤년이면 1, 아니면 0을 출력하는 프로그램입니다. 4의 배수이면서 100의 배수가 아니거나 400의 배수인 경우를 단계별 조건문으로 검사하여 윤년(1)과 평년(0)을 구분합니다.</a:t>
            </a:r>
            <a:endParaRPr lang="ko-KR" altLang="en-US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EFF8D-D691-62A9-ED01-428319DE5E09}"/>
              </a:ext>
            </a:extLst>
          </p:cNvPr>
          <p:cNvSpPr txBox="1"/>
          <p:nvPr/>
        </p:nvSpPr>
        <p:spPr>
          <a:xfrm>
            <a:off x="254000" y="7528064"/>
            <a:ext cx="62121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이중 </a:t>
            </a:r>
            <a:r>
              <a:rPr lang="ko-KR" altLang="ko-KR" dirty="0" err="1">
                <a:latin typeface="+mn-ea"/>
              </a:rPr>
              <a:t>for</a:t>
            </a:r>
            <a:r>
              <a:rPr lang="ko-KR" altLang="ko-KR" dirty="0">
                <a:latin typeface="+mn-ea"/>
              </a:rPr>
              <a:t> 루프를 활용하여 </a:t>
            </a:r>
            <a:r>
              <a:rPr lang="ko-KR" altLang="ko-KR" dirty="0" err="1">
                <a:latin typeface="+mn-ea"/>
              </a:rPr>
              <a:t>입력받은</a:t>
            </a:r>
            <a:r>
              <a:rPr lang="ko-KR" altLang="ko-KR" dirty="0">
                <a:latin typeface="+mn-ea"/>
              </a:rPr>
              <a:t> 줄 수(</a:t>
            </a:r>
            <a:r>
              <a:rPr lang="ko-KR" altLang="ko-KR" dirty="0" err="1">
                <a:latin typeface="+mn-ea"/>
              </a:rPr>
              <a:t>N</a:t>
            </a:r>
            <a:r>
              <a:rPr lang="ko-KR" altLang="ko-KR" dirty="0">
                <a:latin typeface="+mn-ea"/>
              </a:rPr>
              <a:t>)만큼 </a:t>
            </a:r>
            <a:r>
              <a:rPr lang="ko-KR" altLang="ko-KR" b="1" dirty="0">
                <a:latin typeface="+mn-ea"/>
              </a:rPr>
              <a:t>오른쪽 정렬된 별 계단</a:t>
            </a:r>
            <a:r>
              <a:rPr lang="ko-KR" altLang="ko-KR" dirty="0">
                <a:latin typeface="+mn-ea"/>
              </a:rPr>
              <a:t>을 출력하는 프로그램입니다. 매 줄마다 공백(" ")을 </a:t>
            </a:r>
            <a:r>
              <a:rPr lang="ko-KR" altLang="ko-KR" dirty="0" err="1">
                <a:latin typeface="+mn-ea"/>
              </a:rPr>
              <a:t>N</a:t>
            </a:r>
            <a:r>
              <a:rPr lang="ko-KR" altLang="ko-KR" dirty="0">
                <a:latin typeface="+mn-ea"/>
              </a:rPr>
              <a:t> - </a:t>
            </a:r>
            <a:r>
              <a:rPr lang="ko-KR" altLang="ko-KR" dirty="0" err="1">
                <a:latin typeface="+mn-ea"/>
              </a:rPr>
              <a:t>i번</a:t>
            </a:r>
            <a:r>
              <a:rPr lang="ko-KR" altLang="ko-KR" dirty="0">
                <a:latin typeface="+mn-ea"/>
              </a:rPr>
              <a:t> 출력해 우측으로 밀어낸 뒤, 별("*")을 행의 번호(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)만큼 채우고 줄 바꿈을 수행합니다.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70498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6EBAA14-FEFD-A1AA-EEC6-9B1D3107C59E}"/>
              </a:ext>
            </a:extLst>
          </p:cNvPr>
          <p:cNvSpPr txBox="1"/>
          <p:nvPr/>
        </p:nvSpPr>
        <p:spPr>
          <a:xfrm>
            <a:off x="254000" y="69612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5</a:t>
            </a:r>
            <a:endParaRPr kumimoji="1"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593882-CB42-6525-DC22-04011B93D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0"/>
            <a:ext cx="4533900" cy="22606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2F4431-06F0-2F74-8F5B-60B9C668E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5174345"/>
            <a:ext cx="4318000" cy="187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49C551-A770-A4EC-1360-3D2A93B2E677}"/>
              </a:ext>
            </a:extLst>
          </p:cNvPr>
          <p:cNvSpPr txBox="1"/>
          <p:nvPr/>
        </p:nvSpPr>
        <p:spPr>
          <a:xfrm>
            <a:off x="254000" y="4665313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6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34C69-9241-2C27-190C-33DB30CE8B4E}"/>
              </a:ext>
            </a:extLst>
          </p:cNvPr>
          <p:cNvSpPr txBox="1"/>
          <p:nvPr/>
        </p:nvSpPr>
        <p:spPr>
          <a:xfrm>
            <a:off x="-19050" y="2964656"/>
            <a:ext cx="68770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>
                <a:latin typeface="+mn-ea"/>
              </a:rPr>
              <a:t>입력받은</a:t>
            </a:r>
            <a:r>
              <a:rPr lang="ko-KR" altLang="ko-KR" dirty="0">
                <a:latin typeface="+mn-ea"/>
              </a:rPr>
              <a:t> 심폐소생술(CPR) 순서 배열 </a:t>
            </a:r>
            <a:r>
              <a:rPr lang="ko-KR" altLang="ko-KR" dirty="0" err="1">
                <a:latin typeface="+mn-ea"/>
              </a:rPr>
              <a:t>cpr이</a:t>
            </a:r>
            <a:r>
              <a:rPr lang="ko-KR" altLang="ko-KR" dirty="0">
                <a:latin typeface="+mn-ea"/>
              </a:rPr>
              <a:t> 표준 프로토콜 배열 </a:t>
            </a:r>
            <a:r>
              <a:rPr lang="ko-KR" altLang="ko-KR" dirty="0" err="1">
                <a:latin typeface="+mn-ea"/>
              </a:rPr>
              <a:t>basic_order에서</a:t>
            </a:r>
            <a:r>
              <a:rPr lang="ko-KR" altLang="ko-KR" dirty="0">
                <a:latin typeface="+mn-ea"/>
              </a:rPr>
              <a:t> 몇 번째 단계에 해당하는지 매칭하여 인덱스 번호를 배열로 반환하는 프로그램입니다. 이중 </a:t>
            </a:r>
            <a:r>
              <a:rPr lang="ko-KR" altLang="ko-KR" dirty="0" err="1">
                <a:latin typeface="+mn-ea"/>
              </a:rPr>
              <a:t>for</a:t>
            </a:r>
            <a:r>
              <a:rPr lang="ko-KR" altLang="ko-KR" dirty="0">
                <a:latin typeface="+mn-ea"/>
              </a:rPr>
              <a:t> 루프를 순회하며 문자열을 비교(</a:t>
            </a:r>
            <a:r>
              <a:rPr lang="ko-KR" altLang="ko-KR" dirty="0" err="1">
                <a:latin typeface="+mn-ea"/>
              </a:rPr>
              <a:t>equals</a:t>
            </a:r>
            <a:r>
              <a:rPr lang="ko-KR" altLang="ko-KR" dirty="0">
                <a:latin typeface="+mn-ea"/>
              </a:rPr>
              <a:t>)하고, 일치하는 단계의 인덱스에 1을 더한 값(</a:t>
            </a:r>
            <a:r>
              <a:rPr lang="ko-KR" altLang="ko-KR" dirty="0" err="1">
                <a:latin typeface="+mn-ea"/>
              </a:rPr>
              <a:t>j</a:t>
            </a:r>
            <a:r>
              <a:rPr lang="ko-KR" altLang="ko-KR" dirty="0">
                <a:latin typeface="+mn-ea"/>
              </a:rPr>
              <a:t> + 1)을 </a:t>
            </a:r>
            <a:r>
              <a:rPr lang="ko-KR" altLang="ko-KR" dirty="0" err="1">
                <a:latin typeface="+mn-ea"/>
              </a:rPr>
              <a:t>answer</a:t>
            </a:r>
            <a:r>
              <a:rPr lang="ko-KR" altLang="ko-KR" dirty="0">
                <a:latin typeface="+mn-ea"/>
              </a:rPr>
              <a:t> 배열에 차례대로 저장합니다.</a:t>
            </a:r>
            <a:endParaRPr lang="ko-KR" altLang="en-US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B4A3F-A1C2-8839-F82F-203D9BC4B8EC}"/>
              </a:ext>
            </a:extLst>
          </p:cNvPr>
          <p:cNvSpPr txBox="1"/>
          <p:nvPr/>
        </p:nvSpPr>
        <p:spPr>
          <a:xfrm>
            <a:off x="0" y="7193645"/>
            <a:ext cx="66947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매월 증감하는 물 사용량을 누적하면서, 총 사용량이 감당 가능한 최대 저장량(</a:t>
            </a:r>
            <a:r>
              <a:rPr lang="ko-KR" altLang="ko-KR" dirty="0" err="1">
                <a:latin typeface="+mn-ea"/>
              </a:rPr>
              <a:t>storage</a:t>
            </a:r>
            <a:r>
              <a:rPr lang="ko-KR" altLang="ko-KR" dirty="0">
                <a:latin typeface="+mn-ea"/>
              </a:rPr>
              <a:t>)을 **초과하는 시점(개월 수)**을 찾는 프로그램입니다. </a:t>
            </a:r>
            <a:r>
              <a:rPr lang="ko-KR" altLang="ko-KR" dirty="0" err="1">
                <a:latin typeface="+mn-ea"/>
              </a:rPr>
              <a:t>반복문</a:t>
            </a:r>
            <a:r>
              <a:rPr lang="ko-KR" altLang="ko-KR" dirty="0">
                <a:latin typeface="+mn-ea"/>
              </a:rPr>
              <a:t> 내에서 </a:t>
            </a:r>
            <a:r>
              <a:rPr lang="ko-KR" altLang="ko-KR" dirty="0" err="1">
                <a:latin typeface="+mn-ea"/>
              </a:rPr>
              <a:t>change</a:t>
            </a:r>
            <a:r>
              <a:rPr lang="ko-KR" altLang="ko-KR" dirty="0">
                <a:latin typeface="+mn-ea"/>
              </a:rPr>
              <a:t>[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] 비율에 따라 당월 사용량(</a:t>
            </a:r>
            <a:r>
              <a:rPr lang="ko-KR" altLang="ko-KR" dirty="0" err="1">
                <a:latin typeface="+mn-ea"/>
              </a:rPr>
              <a:t>usage</a:t>
            </a:r>
            <a:r>
              <a:rPr lang="ko-KR" altLang="ko-KR" dirty="0">
                <a:latin typeface="+mn-ea"/>
              </a:rPr>
              <a:t>)을 갱신하고 누적하다가, </a:t>
            </a:r>
            <a:r>
              <a:rPr lang="ko-KR" altLang="ko-KR" dirty="0" err="1">
                <a:latin typeface="+mn-ea"/>
              </a:rPr>
              <a:t>total_usage</a:t>
            </a:r>
            <a:r>
              <a:rPr lang="ko-KR" altLang="ko-KR" dirty="0">
                <a:latin typeface="+mn-ea"/>
              </a:rPr>
              <a:t> &gt; </a:t>
            </a:r>
            <a:r>
              <a:rPr lang="ko-KR" altLang="ko-KR" dirty="0" err="1">
                <a:latin typeface="+mn-ea"/>
              </a:rPr>
              <a:t>storage</a:t>
            </a:r>
            <a:r>
              <a:rPr lang="ko-KR" altLang="ko-KR" dirty="0">
                <a:latin typeface="+mn-ea"/>
              </a:rPr>
              <a:t> 조건을 만족하면 해당 인덱스(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반환하며, 초과하지 않으면 -1을 반환합니다.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365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384E9-D31C-0A25-3C83-086B6D50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73E0ED-F8F9-DFFE-8DF6-22C251CB6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060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682013-0FFE-CC33-017E-A7070A8D72A0}"/>
              </a:ext>
            </a:extLst>
          </p:cNvPr>
          <p:cNvSpPr txBox="1"/>
          <p:nvPr/>
        </p:nvSpPr>
        <p:spPr>
          <a:xfrm>
            <a:off x="254000" y="69612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6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04260C-7C17-3805-59CD-475FB0C70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944"/>
            <a:ext cx="3134458" cy="21391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1F72CD3-53F6-9DF0-90F0-5A90F72FC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857" y="438944"/>
            <a:ext cx="1084847" cy="12882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16BE9B-EF43-452F-CDF4-32C8CCFFA6AB}"/>
              </a:ext>
            </a:extLst>
          </p:cNvPr>
          <p:cNvSpPr txBox="1"/>
          <p:nvPr/>
        </p:nvSpPr>
        <p:spPr>
          <a:xfrm>
            <a:off x="253999" y="4768334"/>
            <a:ext cx="1678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백준 </a:t>
            </a:r>
            <a:r>
              <a:rPr kumimoji="1" lang="en-US" altLang="ko-KR" dirty="0"/>
              <a:t>6</a:t>
            </a:r>
            <a:r>
              <a:rPr kumimoji="1" lang="ko-KR" altLang="en-US" dirty="0"/>
              <a:t>단계 </a:t>
            </a:r>
            <a:r>
              <a:rPr kumimoji="1" lang="en-US" altLang="ko-KR" dirty="0"/>
              <a:t>2</a:t>
            </a:r>
            <a:r>
              <a:rPr kumimoji="1" lang="ko-KR" altLang="en-US" dirty="0"/>
              <a:t>번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CBFD787-AFD5-81DA-D0F0-C8606699C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" y="5175766"/>
            <a:ext cx="2755900" cy="21082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632FC7-992E-F7C5-576B-FA69B44AC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0404" y="5162728"/>
            <a:ext cx="721876" cy="3693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C0B83F-A376-5778-DBAD-F74AC09B0BF5}"/>
              </a:ext>
            </a:extLst>
          </p:cNvPr>
          <p:cNvSpPr txBox="1"/>
          <p:nvPr/>
        </p:nvSpPr>
        <p:spPr>
          <a:xfrm>
            <a:off x="218164" y="2660134"/>
            <a:ext cx="66295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체스 말의 올바른 세트 개수(</a:t>
            </a:r>
            <a:r>
              <a:rPr lang="ko-KR" altLang="ko-KR" dirty="0" err="1">
                <a:latin typeface="+mn-ea"/>
              </a:rPr>
              <a:t>standard</a:t>
            </a:r>
            <a:r>
              <a:rPr lang="ko-KR" altLang="ko-KR" dirty="0">
                <a:latin typeface="+mn-ea"/>
              </a:rPr>
              <a:t>)와 현재 가지고 있는 말의 개수(</a:t>
            </a:r>
            <a:r>
              <a:rPr lang="ko-KR" altLang="ko-KR" dirty="0" err="1">
                <a:latin typeface="+mn-ea"/>
              </a:rPr>
              <a:t>n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비교하여 부족하거나 넘치는 말의 개수를 구하는 프로그램입니다. </a:t>
            </a:r>
            <a:r>
              <a:rPr lang="ko-KR" altLang="ko-KR" dirty="0" err="1">
                <a:latin typeface="+mn-ea"/>
              </a:rPr>
              <a:t>for</a:t>
            </a:r>
            <a:r>
              <a:rPr lang="ko-KR" altLang="ko-KR" dirty="0">
                <a:latin typeface="+mn-ea"/>
              </a:rPr>
              <a:t> 루프를 돌며 필요한 개수와의 차이(</a:t>
            </a:r>
            <a:r>
              <a:rPr lang="ko-KR" altLang="ko-KR" dirty="0" err="1">
                <a:latin typeface="+mn-ea"/>
              </a:rPr>
              <a:t>standard</a:t>
            </a:r>
            <a:r>
              <a:rPr lang="ko-KR" altLang="ko-KR" dirty="0">
                <a:latin typeface="+mn-ea"/>
              </a:rPr>
              <a:t>[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] - </a:t>
            </a:r>
            <a:r>
              <a:rPr lang="ko-KR" altLang="ko-KR" dirty="0" err="1">
                <a:latin typeface="+mn-ea"/>
              </a:rPr>
              <a:t>n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계산하고, 효율적인 문자열 결합을 위해 </a:t>
            </a:r>
            <a:r>
              <a:rPr lang="ko-KR" altLang="ko-KR" dirty="0" err="1">
                <a:latin typeface="+mn-ea"/>
              </a:rPr>
              <a:t>StringBuilder에</a:t>
            </a:r>
            <a:r>
              <a:rPr lang="ko-KR" altLang="ko-KR" dirty="0">
                <a:latin typeface="+mn-ea"/>
              </a:rPr>
              <a:t> 공백과 함께 누적한 뒤 한 번에 출력합니다.</a:t>
            </a:r>
            <a:endParaRPr lang="ko-KR" altLang="en-US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B38A4-D158-DB15-2F40-CCF6FB0994CE}"/>
              </a:ext>
            </a:extLst>
          </p:cNvPr>
          <p:cNvSpPr txBox="1"/>
          <p:nvPr/>
        </p:nvSpPr>
        <p:spPr>
          <a:xfrm>
            <a:off x="103952" y="7476661"/>
            <a:ext cx="66295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 err="1">
                <a:latin typeface="+mn-ea"/>
              </a:rPr>
              <a:t>입력받은</a:t>
            </a:r>
            <a:r>
              <a:rPr lang="ko-KR" altLang="ko-KR" dirty="0">
                <a:latin typeface="+mn-ea"/>
              </a:rPr>
              <a:t> 문자열이 앞뒤가 똑같은 **회문(</a:t>
            </a:r>
            <a:r>
              <a:rPr lang="ko-KR" altLang="ko-KR" dirty="0" err="1">
                <a:latin typeface="+mn-ea"/>
              </a:rPr>
              <a:t>Palindrome</a:t>
            </a:r>
            <a:r>
              <a:rPr lang="ko-KR" altLang="ko-KR" dirty="0">
                <a:latin typeface="+mn-ea"/>
              </a:rPr>
              <a:t>)**인지 판별하여 맞으면 1, 틀리면 0을 출력하는 프로그램입니다. 문자열 길이의 절반(</a:t>
            </a:r>
            <a:r>
              <a:rPr lang="ko-KR" altLang="ko-KR" dirty="0" err="1">
                <a:latin typeface="+mn-ea"/>
              </a:rPr>
              <a:t>len</a:t>
            </a:r>
            <a:r>
              <a:rPr lang="ko-KR" altLang="ko-KR" dirty="0">
                <a:latin typeface="+mn-ea"/>
              </a:rPr>
              <a:t> / 2)만큼 반복하면서, 대칭 위치에 있는 문자(</a:t>
            </a:r>
            <a:r>
              <a:rPr lang="ko-KR" altLang="ko-KR" dirty="0" err="1">
                <a:latin typeface="+mn-ea"/>
              </a:rPr>
              <a:t>charAt</a:t>
            </a:r>
            <a:r>
              <a:rPr lang="ko-KR" altLang="ko-KR" dirty="0">
                <a:latin typeface="+mn-ea"/>
              </a:rPr>
              <a:t>(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)와 </a:t>
            </a:r>
            <a:r>
              <a:rPr lang="ko-KR" altLang="ko-KR" dirty="0" err="1">
                <a:latin typeface="+mn-ea"/>
              </a:rPr>
              <a:t>charAt</a:t>
            </a:r>
            <a:r>
              <a:rPr lang="ko-KR" altLang="ko-KR" dirty="0">
                <a:latin typeface="+mn-ea"/>
              </a:rPr>
              <a:t>(</a:t>
            </a:r>
            <a:r>
              <a:rPr lang="ko-KR" altLang="ko-KR" dirty="0" err="1">
                <a:latin typeface="+mn-ea"/>
              </a:rPr>
              <a:t>len</a:t>
            </a:r>
            <a:r>
              <a:rPr lang="ko-KR" altLang="ko-KR" dirty="0">
                <a:latin typeface="+mn-ea"/>
              </a:rPr>
              <a:t> - 1 - 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))가 서로 다르면 </a:t>
            </a:r>
            <a:r>
              <a:rPr lang="ko-KR" altLang="ko-KR" dirty="0" err="1">
                <a:latin typeface="+mn-ea"/>
              </a:rPr>
              <a:t>isPalindrome을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false로</a:t>
            </a:r>
            <a:r>
              <a:rPr lang="ko-KR" altLang="ko-KR" dirty="0">
                <a:latin typeface="+mn-ea"/>
              </a:rPr>
              <a:t> 바꾸고 루프를 빠져나옵니다.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467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F9713D3-7F2E-156E-0D9C-E63B8DD8E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635000"/>
            <a:ext cx="3632200" cy="391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53DD8-0A3F-C780-DEC6-D89D28BB4AAF}"/>
              </a:ext>
            </a:extLst>
          </p:cNvPr>
          <p:cNvSpPr txBox="1"/>
          <p:nvPr/>
        </p:nvSpPr>
        <p:spPr>
          <a:xfrm>
            <a:off x="152400" y="265668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7</a:t>
            </a:r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3828ED-7A0B-77C2-E955-317FAD724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5722292"/>
            <a:ext cx="2984500" cy="3918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3C15B6-C773-1112-15EF-D5F2CC89CEB2}"/>
              </a:ext>
            </a:extLst>
          </p:cNvPr>
          <p:cNvSpPr txBox="1"/>
          <p:nvPr/>
        </p:nvSpPr>
        <p:spPr>
          <a:xfrm>
            <a:off x="196850" y="5359401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8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8C4A9-71AD-4715-295B-C3309B1A7845}"/>
              </a:ext>
            </a:extLst>
          </p:cNvPr>
          <p:cNvSpPr txBox="1"/>
          <p:nvPr/>
        </p:nvSpPr>
        <p:spPr>
          <a:xfrm>
            <a:off x="3898900" y="882640"/>
            <a:ext cx="2616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정류장별 탑승("</a:t>
            </a:r>
            <a:r>
              <a:rPr lang="ko-KR" altLang="ko-KR" dirty="0" err="1">
                <a:latin typeface="+mn-ea"/>
              </a:rPr>
              <a:t>On</a:t>
            </a:r>
            <a:r>
              <a:rPr lang="ko-KR" altLang="ko-KR" dirty="0">
                <a:latin typeface="+mn-ea"/>
              </a:rPr>
              <a:t>") 및 하차("</a:t>
            </a:r>
            <a:r>
              <a:rPr lang="ko-KR" altLang="ko-KR" dirty="0" err="1">
                <a:latin typeface="+mn-ea"/>
              </a:rPr>
              <a:t>Off</a:t>
            </a:r>
            <a:r>
              <a:rPr lang="ko-KR" altLang="ko-KR" dirty="0">
                <a:latin typeface="+mn-ea"/>
              </a:rPr>
              <a:t>") 인원 정보를 분석하여 버스의 남은 빈 좌석 수를 계산하고 반환하는 프로그램입니다. func4와 func3로 누적 승객 수를 구한 뒤, 전체 좌석(</a:t>
            </a:r>
            <a:r>
              <a:rPr lang="ko-KR" altLang="ko-KR" dirty="0" err="1">
                <a:latin typeface="+mn-ea"/>
              </a:rPr>
              <a:t>seat</a:t>
            </a:r>
            <a:r>
              <a:rPr lang="ko-KR" altLang="ko-KR" dirty="0">
                <a:latin typeface="+mn-ea"/>
              </a:rPr>
              <a:t>)에서 빼서 나온 값이 음수이면 0을, 양수이면 그대로 반환(func1)합니다.</a:t>
            </a:r>
            <a:endParaRPr lang="ko-KR" altLang="en-US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5A95C7-FF30-B067-0E26-C2148FC6495D}"/>
              </a:ext>
            </a:extLst>
          </p:cNvPr>
          <p:cNvSpPr txBox="1"/>
          <p:nvPr/>
        </p:nvSpPr>
        <p:spPr>
          <a:xfrm>
            <a:off x="3429000" y="5843217"/>
            <a:ext cx="2984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주어진 닉네임(</a:t>
            </a:r>
            <a:r>
              <a:rPr lang="ko-KR" altLang="ko-KR" dirty="0" err="1">
                <a:latin typeface="+mn-ea"/>
              </a:rPr>
              <a:t>nickname</a:t>
            </a:r>
            <a:r>
              <a:rPr lang="ko-KR" altLang="ko-KR" dirty="0">
                <a:latin typeface="+mn-ea"/>
              </a:rPr>
              <a:t>)의 특정 문자들을 정해진 규칙에 따라 변환하고, 최종 글자 수를 4자 이상 8자 이하로 조절하는 프로그램입니다. 문자 대체(</a:t>
            </a:r>
            <a:r>
              <a:rPr lang="ko-KR" altLang="ko-KR" dirty="0" err="1">
                <a:latin typeface="+mn-ea"/>
              </a:rPr>
              <a:t>l</a:t>
            </a:r>
            <a:r>
              <a:rPr lang="en-US" altLang="ko-KR" dirty="0">
                <a:latin typeface="+mn-ea"/>
              </a:rPr>
              <a:t>-&gt;</a:t>
            </a:r>
            <a:r>
              <a:rPr lang="ko-KR" altLang="ko-KR" dirty="0" err="1">
                <a:latin typeface="+mn-ea"/>
              </a:rPr>
              <a:t>I</a:t>
            </a:r>
            <a:r>
              <a:rPr lang="ko-KR" altLang="ko-KR" dirty="0">
                <a:latin typeface="+mn-ea"/>
              </a:rPr>
              <a:t>, </a:t>
            </a:r>
            <a:r>
              <a:rPr lang="ko-KR" altLang="ko-KR" dirty="0" err="1">
                <a:latin typeface="+mn-ea"/>
              </a:rPr>
              <a:t>w</a:t>
            </a:r>
            <a:r>
              <a:rPr lang="en-US" altLang="ko-KR" dirty="0">
                <a:latin typeface="+mn-ea"/>
              </a:rPr>
              <a:t>-&gt;</a:t>
            </a:r>
            <a:r>
              <a:rPr lang="ko-KR" altLang="ko-KR" dirty="0" err="1">
                <a:latin typeface="+mn-ea"/>
              </a:rPr>
              <a:t>vv</a:t>
            </a:r>
            <a:r>
              <a:rPr lang="ko-KR" altLang="ko-KR" dirty="0">
                <a:latin typeface="+mn-ea"/>
              </a:rPr>
              <a:t> 등)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거친 후 길이가 4자 미만이면 뒤에 </a:t>
            </a:r>
            <a:r>
              <a:rPr lang="ko-KR" altLang="ko-KR" dirty="0" err="1">
                <a:latin typeface="+mn-ea"/>
              </a:rPr>
              <a:t>o를</a:t>
            </a:r>
            <a:r>
              <a:rPr lang="ko-KR" altLang="ko-KR" dirty="0">
                <a:latin typeface="+mn-ea"/>
              </a:rPr>
              <a:t> 채우고, 8자를 초과하면 </a:t>
            </a:r>
            <a:r>
              <a:rPr lang="ko-KR" altLang="ko-KR" dirty="0" err="1">
                <a:latin typeface="+mn-ea"/>
              </a:rPr>
              <a:t>substring으로</a:t>
            </a:r>
            <a:r>
              <a:rPr lang="ko-KR" altLang="ko-KR" dirty="0">
                <a:latin typeface="+mn-ea"/>
              </a:rPr>
              <a:t> 앞의 8자만 잘라내어 반환합니다.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71314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5A695-494D-591A-F45B-F47644BC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51796C-1775-7458-5AE9-C05D8653E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3572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12A0E4-E23C-8AD4-0358-54F774794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572532"/>
            <a:ext cx="2603500" cy="336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D8BFAE-B5B8-37EA-6396-3ACFE2E4BFC1}"/>
              </a:ext>
            </a:extLst>
          </p:cNvPr>
          <p:cNvSpPr txBox="1"/>
          <p:nvPr/>
        </p:nvSpPr>
        <p:spPr>
          <a:xfrm>
            <a:off x="190500" y="203200"/>
            <a:ext cx="935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9</a:t>
            </a:r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8BD61D-7AB7-3980-3503-885FCEEAC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4546600"/>
            <a:ext cx="3175000" cy="5359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850C1C-4294-4F5B-B1D4-E5BC43016318}"/>
              </a:ext>
            </a:extLst>
          </p:cNvPr>
          <p:cNvSpPr txBox="1"/>
          <p:nvPr/>
        </p:nvSpPr>
        <p:spPr>
          <a:xfrm>
            <a:off x="190500" y="4177268"/>
            <a:ext cx="105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PCCE 10</a:t>
            </a:r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A2A39-9741-B77E-CF72-5E60176B0DF1}"/>
              </a:ext>
            </a:extLst>
          </p:cNvPr>
          <p:cNvSpPr txBox="1"/>
          <p:nvPr/>
        </p:nvSpPr>
        <p:spPr>
          <a:xfrm>
            <a:off x="3004457" y="685621"/>
            <a:ext cx="3429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지갑(</a:t>
            </a:r>
            <a:r>
              <a:rPr lang="ko-KR" altLang="ko-KR" dirty="0" err="1">
                <a:latin typeface="+mn-ea"/>
              </a:rPr>
              <a:t>wallet</a:t>
            </a:r>
            <a:r>
              <a:rPr lang="ko-KR" altLang="ko-KR" dirty="0">
                <a:latin typeface="+mn-ea"/>
              </a:rPr>
              <a:t>)의 </a:t>
            </a:r>
            <a:r>
              <a:rPr lang="ko-KR" altLang="ko-KR" dirty="0" err="1">
                <a:latin typeface="+mn-ea"/>
              </a:rPr>
              <a:t>가로·세로</a:t>
            </a:r>
            <a:r>
              <a:rPr lang="ko-KR" altLang="ko-KR" dirty="0">
                <a:latin typeface="+mn-ea"/>
              </a:rPr>
              <a:t> 크기에 맞춰 지폐(</a:t>
            </a:r>
            <a:r>
              <a:rPr lang="ko-KR" altLang="ko-KR" dirty="0" err="1">
                <a:latin typeface="+mn-ea"/>
              </a:rPr>
              <a:t>bill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접어 넣을 수 있는 최소 접기 횟수를 구하는 프로그램입니다. 지갑과 지폐를 회전하여 넣는 경우를 고려해 항상 작은 변과 큰 변끼리 비교(</a:t>
            </a:r>
            <a:r>
              <a:rPr lang="ko-KR" altLang="ko-KR" dirty="0" err="1">
                <a:latin typeface="+mn-ea"/>
              </a:rPr>
              <a:t>Math.min</a:t>
            </a:r>
            <a:r>
              <a:rPr lang="ko-KR" altLang="ko-KR" dirty="0">
                <a:latin typeface="+mn-ea"/>
              </a:rPr>
              <a:t>, </a:t>
            </a:r>
            <a:r>
              <a:rPr lang="ko-KR" altLang="ko-KR" dirty="0" err="1">
                <a:latin typeface="+mn-ea"/>
              </a:rPr>
              <a:t>Math.max</a:t>
            </a:r>
            <a:r>
              <a:rPr lang="ko-KR" altLang="ko-KR" dirty="0">
                <a:latin typeface="+mn-ea"/>
              </a:rPr>
              <a:t>)하며, 지폐가 지갑보다 크다면 가장 긴 변을 반으로 접는 과정(/= 2)을 반복합니다.</a:t>
            </a:r>
            <a:endParaRPr lang="ko-KR" altLang="en-US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35B26-1EA3-4723-D22C-B6C9DBD66EA6}"/>
              </a:ext>
            </a:extLst>
          </p:cNvPr>
          <p:cNvSpPr txBox="1"/>
          <p:nvPr/>
        </p:nvSpPr>
        <p:spPr>
          <a:xfrm>
            <a:off x="3525159" y="4649898"/>
            <a:ext cx="25653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>
                <a:latin typeface="+mn-ea"/>
              </a:rPr>
              <a:t>공원(</a:t>
            </a:r>
            <a:r>
              <a:rPr lang="ko-KR" altLang="ko-KR" dirty="0" err="1">
                <a:latin typeface="+mn-ea"/>
              </a:rPr>
              <a:t>park</a:t>
            </a:r>
            <a:r>
              <a:rPr lang="ko-KR" altLang="ko-KR" dirty="0">
                <a:latin typeface="+mn-ea"/>
              </a:rPr>
              <a:t>)의 빈 공간("-1")</a:t>
            </a:r>
            <a:r>
              <a:rPr lang="ko-KR" altLang="ko-KR" dirty="0" err="1">
                <a:latin typeface="+mn-ea"/>
              </a:rPr>
              <a:t>에</a:t>
            </a:r>
            <a:r>
              <a:rPr lang="ko-KR" altLang="ko-KR" dirty="0">
                <a:latin typeface="+mn-ea"/>
              </a:rPr>
              <a:t> 깔 수 있는 가장 큰 돗자리의 한 변의 크기를 구하는 프로그램입니다. 돗자리 크기 리스트(</a:t>
            </a:r>
            <a:r>
              <a:rPr lang="ko-KR" altLang="ko-KR" dirty="0" err="1">
                <a:latin typeface="+mn-ea"/>
              </a:rPr>
              <a:t>mats</a:t>
            </a:r>
            <a:r>
              <a:rPr lang="ko-KR" altLang="ko-KR" dirty="0">
                <a:latin typeface="+mn-ea"/>
              </a:rPr>
              <a:t>)</a:t>
            </a:r>
            <a:r>
              <a:rPr lang="ko-KR" altLang="ko-KR" dirty="0" err="1">
                <a:latin typeface="+mn-ea"/>
              </a:rPr>
              <a:t>를</a:t>
            </a:r>
            <a:r>
              <a:rPr lang="ko-KR" altLang="ko-KR" dirty="0">
                <a:latin typeface="+mn-ea"/>
              </a:rPr>
              <a:t> 내림차순으로 정렬한 뒤, 돗자리가 공원 범위를 벗어나지 않고 다른 사람에게 겹치지 않는 공간(</a:t>
            </a:r>
            <a:r>
              <a:rPr lang="ko-KR" altLang="ko-KR" dirty="0" err="1">
                <a:latin typeface="+mn-ea"/>
              </a:rPr>
              <a:t>canPlace가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true</a:t>
            </a:r>
            <a:r>
              <a:rPr lang="ko-KR" altLang="ko-KR" dirty="0">
                <a:latin typeface="+mn-ea"/>
              </a:rPr>
              <a:t>)을 발견하는 즉시 해당 크기를 반환합니다.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25951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1003</Words>
  <Application>Microsoft Macintosh PowerPoint</Application>
  <PresentationFormat>A4 용지(210x297mm)</PresentationFormat>
  <Paragraphs>36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우현</dc:creator>
  <cp:lastModifiedBy>이 우현</cp:lastModifiedBy>
  <cp:revision>8</cp:revision>
  <dcterms:created xsi:type="dcterms:W3CDTF">2026-06-03T22:25:25Z</dcterms:created>
  <dcterms:modified xsi:type="dcterms:W3CDTF">2026-06-04T02:20:09Z</dcterms:modified>
</cp:coreProperties>
</file>